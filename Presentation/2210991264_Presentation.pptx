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7" r:id="rId7"/>
    <p:sldId id="264" r:id="rId8"/>
    <p:sldId id="265" r:id="rId9"/>
    <p:sldId id="272" r:id="rId10"/>
    <p:sldId id="268" r:id="rId11"/>
    <p:sldId id="269" r:id="rId12"/>
    <p:sldId id="270" r:id="rId13"/>
    <p:sldId id="271" r:id="rId14"/>
    <p:sldId id="266" r:id="rId15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rISgbnkDMCvbFWTgmizyC+e0z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26:06.7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3211 133 24575,'-41'2'0,"0"1"0,-49 13 0,30-6 0,89-12 0,52 3 0,-23 1 0,-22-1 0,-25 1 0,-1-2 0,0 1 0,0-1 0,1-1 0,-1 0 0,0 0 0,17-5 0,-27 6 0,1 0 0,-1 0 0,0 0 0,0 0 0,1 0 0,-1 0 0,0 0 0,0 0 0,1 0 0,-1 0 0,0 0 0,0 0 0,1 0 0,-1 0 0,0-1 0,0 1 0,1 0 0,-1 0 0,0 0 0,0 0 0,0 0 0,0-1 0,1 1 0,-1 0 0,0 0 0,0 0 0,0-1 0,0 1 0,0 0 0,1 0 0,-1-1 0,0 1 0,0 0 0,0 0 0,0-1 0,0 1 0,0 0 0,0 0 0,0-1 0,0 1 0,0 0 0,0 0 0,0-1 0,0 1 0,0-1 0,-14-4 0,-22 1 0,-225 5 0,508-1 0,-452 0 0,334-6 0,253-42 0,-351 41 0,47-15 0,-107 29 0,-1-1 0,-1-1 0,-47 0 0,-43 6 0,73-3 0,-105 13 0,138-18 0,25 2 0,26 2 0,201 2 0,-98-7 0,164 2 0,-404-19 0,-295-2 0,643 19 0,-118-4 0,111 2 0,-379-2 0,-149 4 0,287-2 0,1 0 0,-1 0 0,0 0 0,1 0 0,-1 0 0,0 0 0,1 0 0,-1 0 0,0 0 0,1 0 0,-1 1 0,0-1 0,1 0 0,-1 0 0,1 0 0,-1 1 0,0-1 0,1 0 0,-1 1 0,1-1 0,-1 1 0,1-1 0,-1 1 0,0 0 0,11 8 0,32 10 0,-38-18 0,19 7 0,0-2 0,0 0 0,1-1 0,-1-2 0,1 0 0,25-1 0,145-12 0,-186 9 0,34-2 0,1-3 0,-2-2 0,78-23 0,-118 30 0,0 1 0,-1 0 0,1 0 0,0 0 0,0-1 0,0 1 0,0-1 0,-1 1 0,1 0 0,0-1 0,0 0 0,-1 1 0,1-1 0,0 1 0,-1-1 0,1 0 0,0 1 0,0-2 0,-11-4 0,-32 0 0,37 6 0,-195-8 0,244 6 0,69-12 0,31-2 0,-218 27 0,32-5 0,32-4 0,-1 0 0,1 0 0,-1-1 0,1-1 0,-1 0 0,1 0 0,-20-4 0,28 2 0,11 0 0,12 2 0,-2 3 0,1 1 0,-1 1 0,-1 0 0,36 17 0,-53-22 0,-1 0 0,1 0 0,-1 0 0,1 0 0,-1 1 0,0-1 0,1 0 0,-1 0 0,1 1 0,-1-1 0,0 0 0,1 0 0,-1 1 0,0-1 0,1 0 0,-1 1 0,0-1 0,1 1 0,-1-1 0,0 0 0,0 1 0,1-1 0,-1 1 0,0-1 0,0 1 0,0-1 0,0 1 0,0-1 0,0 1 0,0-1 0,0 0 0,0 1 0,0 0 0,-14 8 0,-24 0 0,-34-6 0,44-3 0,-1 2 0,1 1 0,-29 6 0,57-9 0,0 0 0,0 0 0,0 0 0,-1 0 0,1 0 0,0 0 0,0 0 0,-1 0 0,1 0 0,0 0 0,0 0 0,-1 0 0,1 1 0,0-1 0,0 0 0,0 0 0,-1 0 0,1 0 0,0 0 0,0 0 0,0 1 0,-1-1 0,1 0 0,0 0 0,0 0 0,0 0 0,0 1 0,0-1 0,-1 0 0,1 0 0,0 0 0,0 1 0,0-1 0,0 0 0,0 0 0,0 1 0,0-1 0,0 0 0,0 0 0,0 1 0,0-1 0,0 0 0,0 0 0,0 0 0,0 1 0,0-1 0,0 1 0,13 8 0,19 5 0,42 5 0,-57-16 0,0 1 0,0 1 0,28 11 0,-45-16 0,1 1 0,-1-1 0,1 0 0,-1 0 0,1 0 0,-1 0 0,1 0 0,-1 1 0,1-1 0,-1 0 0,1 0 0,-1 1 0,1-1 0,-1 0 0,0 1 0,1-1 0,-1 0 0,1 1 0,-1-1 0,0 1 0,0-1 0,1 1 0,-1-1 0,0 1 0,0-1 0,1 1 0,-1-1 0,0 1 0,0-1 0,0 1 0,0-1 0,0 1 0,-15 6 0,-28-3 0,-36-3 0,-171-4 0,233-1 0,17 4 0,0 0 0,0 0 0,0-1 0,0 1 0,0 0 0,-1 0 0,1 0 0,0 0 0,0-1 0,0 1 0,0 0 0,0 0 0,0 0 0,0-1 0,0 1 0,0 0 0,0 0 0,0 0 0,0-1 0,0 1 0,0 0 0,0 0 0,0 0 0,0-1 0,0 1 0,0 0 0,0 0 0,0 0 0,0-1 0,1 1 0,-1 0 0,0 0 0,0 0 0,0 0 0,0 0 0,0-1 0,0 1 0,1 0 0,1-2 0,0 1 0,0-1 0,0 1 0,1 0 0,-1-1 0,0 1 0,1 0 0,-1 1 0,4-2 0,66-10 0,0 3 0,132 2 0,-761 27 0,434-8 0,-180 9 0,347-21 0,1-2 0,80-13 0,-48 0 0,-188 18 0,-98 21 0,-162 13 0,303-35 0,-127 10 0,395-51 0,-152 33 0,-17 3 0,-1-1 0,33-9 0,-63 13 0,0 0 0,1 0 0,-1 0 0,0 1 0,1-1 0,-1 0 0,0 0 0,1 0 0,-1 0 0,0-1 0,0 1 0,1 0 0,-1 0 0,0 0 0,1 0 0,-1 0 0,0 0 0,1 0 0,-1-1 0,0 1 0,0 0 0,1 0 0,-1 0 0,0-1 0,0 1 0,1 0 0,-1 0 0,0-1 0,0 1 0,0 0 0,1 0 0,-1-1 0,0 1 0,0 0 0,0-1 0,0 1 0,0 0 0,0-1 0,1 1 0,-16-5 0,-26 2 0,-451-7 0,490 10 0,1 1 0,0-1 0,0 0 0,-1 0 0,1 0 0,0 0 0,0 0 0,-1 0 0,1 0 0,0 0 0,0-1 0,0 1 0,-1 0 0,1-1 0,0 1 0,0-1 0,0 0 0,0 1 0,0-1 0,0 0 0,0 1 0,0-1 0,0 0 0,0 0 0,0 0 0,-1-1 0,2 0 0,1 1 0,-1-1 0,1 1 0,-1 0 0,1-1 0,0 1 0,-1 0 0,1-1 0,0 1 0,0 0 0,0 0 0,0 0 0,0 0 0,0 0 0,0 0 0,1 0 0,-1 0 0,0 1 0,0-1 0,1 0 0,-1 1 0,3-2 0,29-12 0,0 1 0,0 2 0,55-11 0,-43 11 0,9-3 0,-3-1 0,0 3 0,101-10 0,-174 25 0,-1 0 0,-32 11 0,-29 4 0,46-13 0,-97 17 0,147-24 0,0 2 0,0-1 0,19 3 0,5-1 0,477-1 0,-528 1 0,0 1 0,-24 5 0,-11 2 0,-101 16 0,40-5 0,160-24 0,-35 4 0,1-1 0,-1-1 0,0 0 0,0-1 0,21-6 0,-30 4 0,-13 2 0,-15 1 0,-98 2 0,-125 18 0,110-6 0,-464 38 0,516-46 0,51-4 0,28 0 0,12 0 0,268-30 0,-84 7 0,-574 57 0,343-30 0,-57 4 0,85-7 0,0-1 0,-1-1 0,1 0 0,0-1 0,-17-4 0,28 6 0,0-1 0,-1 1 0,1 0 0,0 0 0,0 0 0,0-1 0,0 1 0,0 0 0,0-1 0,0 1 0,0-1 0,0 0 0,1 1 0,-1-1 0,0 0 0,0 1 0,0-1 0,1 0 0,-1 0 0,0 1 0,1-1 0,-1 0 0,0 0 0,1 0 0,-1-1 0,1 1 0,1 0 0,0 0 0,-1 0 0,1 0 0,-1 0 0,1 0 0,0 1 0,0-1 0,-1 0 0,1 0 0,0 1 0,0-1 0,0 0 0,0 1 0,0-1 0,0 1 0,0-1 0,0 1 0,1-1 0,11-3 0,0-1 0,20-3 0,85-13 0,183-9 0,-299 30 0,-1-1 0,1 1 0,-1 1 0,1-1 0,-1 0 0,1 0 0,0 1 0,-1-1 0,1 1 0,-1-1 0,0 1 0,1-1 0,1 2 0,-3 4 0,-13-1 0,-177 28 0,47-10 0,142-23 0,1 0 0,-1 0 0,1 0 0,0 0 0,-1 0 0,1 0 0,-1 0 0,1 0 0,-1 0 0,1 0 0,-1 0 0,1 0 0,0 0 0,-1 0 0,1 1 0,-1-1 0,1 0 0,0 0 0,-1 1 0,1-1 0,-1 0 0,1 0 0,0 1 0,-1-1 0,1 0 0,0 1 0,0-1 0,-1 0 0,1 1 0,0-1 0,0 1 0,0-1 0,-1 1 0,1-1 0,13 10 0,27 2 0,29 0 0,1-3 0,0-4 0,0-2 0,90-8 0,-159 5 0,0 0 0,1 0 0,-1 0 0,0 0 0,1 0 0,-1 0 0,1 0 0,-1-1 0,0 1 0,1-1 0,-1 1 0,0-1 0,0 1 0,1-1 0,-1 1 0,0-1 0,2-2 0,-3 3 0,0-1 0,0 1 0,0-1 0,0 0 0,0 1 0,0-1 0,0 1 0,-1-1 0,1 0 0,0 1 0,0-1 0,-1 1 0,1-1 0,0 1 0,-1-1 0,1 1 0,0-1 0,-1 1 0,1-1 0,-1 1 0,1 0 0,0-1 0,-1 1 0,1 0 0,-1-1 0,0 1 0,-49-28 0,46 26 0,-181-73 0,184 75 0,1 0 0,-1-1 0,0 1 0,0 0 0,1 0 0,-1-1 0,0 1 0,1 0 0,-1-1 0,1 1 0,-1 0 0,0-1 0,1 1 0,-1-1 0,1 1 0,-1-1 0,1 1 0,-1-1 0,1 0 0,0 1 0,-1-1 0,1 0 0,0 1 0,-1-1 0,1 0 0,0 0 0,0 0 0,1 0 0,0 1 0,-1-1 0,1 0 0,0 1 0,0-1 0,0 1 0,-1 0 0,1-1 0,0 1 0,0 0 0,0-1 0,0 1 0,0 0 0,0 0 0,1 0 0,47-3 0,-49 3 0,172 6 0,26 0 0,-227-8 0,0-1 0,1-2 0,-54-15 0,-22-4 0,92 20 0,28 0 0,28 2 0,-11 2 0,1 1 0,0 3 0,-1 0 0,61 17 0,-85-18 0,0 0 0,0 0 0,0 1 0,0 0 0,-1 1 0,12 7 0,-19-11 0,-1 0 0,1-1 0,-1 1 0,0-1 0,1 1 0,-1-1 0,0 1 0,1 0 0,-1-1 0,0 1 0,0 0 0,0 0 0,0-1 0,0 1 0,1 0 0,-1-1 0,0 1 0,-1 0 0,1-1 0,0 1 0,0 0 0,0 0 0,0-1 0,0 1 0,-1 0 0,1-1 0,0 1 0,-1-1 0,1 1 0,0 0 0,-1-1 0,1 1 0,-1-1 0,1 1 0,-1-1 0,1 1 0,-1-1 0,1 1 0,-1-1 0,1 0 0,-1 1 0,0-1 0,1 0 0,-1 1 0,0-1 0,1 0 0,-2 0 0,-33 14 0,-2-4 0,-41 18 0,77-28 0,0 0 0,0 0 0,1 0 0,-1 0 0,0 0 0,1 1 0,-1-1 0,0 0 0,1 0 0,-1 1 0,0-1 0,1 1 0,-1-1 0,1 0 0,-1 1 0,1-1 0,-1 1 0,1 0 0,-1-1 0,1 1 0,-1-1 0,1 1 0,0 0 0,-1-1 0,1 1 0,0 0 0,-1-1 0,1 1 0,0 0 0,0-1 0,0 1 0,0 1 0,0-1 0,1 0 0,0 0 0,0 1 0,0-1 0,0 0 0,0 0 0,0 0 0,0 0 0,0 0 0,0-1 0,1 1 0,-1 0 0,0 0 0,3 0 0,50 17 0,-15-11 0,58 0 0,-12-1 0,-84-6 0,0 0 0,1 0 0,-1 0 0,0 0 0,0 1 0,1-1 0,-1 0 0,0 1 0,0-1 0,0 0 0,1 1 0,-1 0 0,0-1 0,0 1 0,0 0 0,0-1 0,0 1 0,1 2 0,-2-3 0,0 1 0,-1-1 0,1 1 0,0 0 0,-1-1 0,1 1 0,-1-1 0,1 1 0,-1-1 0,1 1 0,-1-1 0,0 1 0,1-1 0,-1 0 0,1 1 0,-1-1 0,0 0 0,1 1 0,-1-1 0,0 0 0,1 0 0,-1 0 0,0 0 0,0 1 0,1-1 0,-1 0 0,0 0 0,0 0 0,1-1 0,-2 1 0,-31 3 0,0-2 0,-1-1 0,-64-10 0,-99-30 0,29 4 0,-87-5 0,-363-70 0,610 109 0,4 2 0,0-1 0,-1 0 0,1-1 0,0 1 0,0-1 0,-1 1 0,1-1 0,-6-5 0,10 7 0,0 0 0,-1 0 0,1-1 0,0 1 0,0 0 0,0 0 0,0-1 0,0 1 0,0 0 0,0 0 0,0-1 0,0 1 0,0 0 0,0-1 0,0 1 0,0 0 0,0 0 0,0-1 0,0 1 0,0 0 0,0 0 0,1-1 0,-1 1 0,0 0 0,0 0 0,0-1 0,0 1 0,0 0 0,1 0 0,-1 0 0,0-1 0,0 1 0,0 0 0,1 0 0,-1 0 0,0 0 0,0 0 0,1-1 0,-1 1 0,0 0 0,0 0 0,1 0 0,-1 0 0,0 0 0,0 0 0,1 0 0,-1 0 0,0 0 0,1 0 0,-1 0 0,17-5 0,23 0 0,1 1 0,0 2 0,59 4 0,-18 0 0,13-3 0,-29-1 0,1 3 0,104 16 0,-170-17 0,0 0 0,0 0 0,0 0 0,0 0 0,0 0 0,0 0 0,0 0 0,0 1 0,0-1 0,0 1 0,0-1 0,0 0 0,0 1 0,0 0 0,0-1 0,0 1 0,0-1 0,0 1 0,-1 0 0,2 1 0,-2-2 0,-1 1 0,1 0 0,-1-1 0,1 1 0,-1 0 0,0-1 0,1 1 0,-1-1 0,1 1 0,-1-1 0,0 0 0,1 1 0,-1-1 0,0 1 0,0-1 0,1 0 0,-1 0 0,0 1 0,-1-1 0,-50 12 0,-199 26 0,-245 51 0,463-82 0,22-5 0,0 0 0,0 0 0,1 2 0,-18 6 0,72-6 0,544-16 0,-513 12 0,-46 0 0,-26 0 0,-10 0 0,-82 1 0,-44 0 0,-149-17 0,204 7 0,308-13 0,-198 19 0,44-1 0,0 2 0,115 14 0,-183-11 0,-5-1 0,0 0 0,0 0 0,0 1 0,1-1 0,-1 1 0,0 0 0,0 0 0,0 0 0,0 0 0,0 1 0,4 2 0,-7-4 0,0 0 0,0 1 0,1-1 0,-1 0 0,0 0 0,0 0 0,0 1 0,0-1 0,0 0 0,0 0 0,0 0 0,0 1 0,0-1 0,0 0 0,0 0 0,0 1 0,0-1 0,0 0 0,0 0 0,-1 0 0,1 0 0,0 1 0,0-1 0,0 0 0,0 0 0,0 0 0,0 1 0,0-1 0,-1 0 0,1 0 0,0 0 0,0 0 0,0 0 0,0 1 0,-1-1 0,1 0 0,0 0 0,0 0 0,0 0 0,-1 0 0,1 0 0,0 0 0,0 0 0,0 0 0,-1 0 0,1 0 0,0 0 0,0 0 0,0 0 0,-1 0 0,1 0 0,0 0 0,-27 6 0,0-1 0,0-1 0,0-1 0,-41-2 0,16 1 0,-451 30 0,800-27 0,-90 2 0,86 3 0,-525-9 0,-145-2 0,373 1 0,-8 0 0,0-1 0,1 0 0,-1-1 0,-23-5 0,36 7 0,-1 0 0,0 0 0,0 0 0,0 0 0,0 0 0,0 0 0,0 0 0,0-1 0,0 1 0,0 0 0,0 0 0,0 0 0,1 0 0,-1 0 0,0 0 0,0 0 0,0 0 0,0 0 0,0 0 0,0 0 0,0 0 0,0 0 0,0-1 0,0 1 0,0 0 0,0 0 0,0 0 0,0 0 0,0 0 0,0 0 0,0 0 0,0 0 0,0 0 0,0 0 0,0-1 0,0 1 0,0 0 0,0 0 0,0 0 0,0 0 0,0 0 0,0 0 0,0 0 0,0 0 0,0 0 0,0 0 0,0 0 0,0 0 0,0-1 0,-1 1 0,1 0 0,0 0 0,0 0 0,0 0 0,0 0 0,0 0 0,0 0 0,0 0 0,0 0 0,0 0 0,0 0 0,-1 0 0,15-4 0,17 0 0,180-11 0,-135 11 0,-54 0 0,-16 1 0,-16 1 0,-296-14 0,-44-5 0,324 20 0,21 1 0,-1 0 0,0 0 0,1-1 0,-1 1 0,0-1 0,1 0 0,-1-1 0,1 1 0,-11-6 0,16 7 0,0 0 0,0 0 0,0 0 0,-1 0 0,1 0 0,0-1 0,0 1 0,0 0 0,-1 0 0,1 0 0,0-1 0,0 1 0,0 0 0,0 0 0,0 0 0,0-1 0,-1 1 0,1 0 0,0 0 0,0-1 0,0 1 0,0 0 0,0 0 0,0-1 0,0 1 0,0 0 0,0 0 0,0-1 0,0 1 0,0 0 0,0 0 0,0-1 0,0 1 0,1 0 0,-1 0 0,0 0 0,0-1 0,0 1 0,0 0 0,0 0 0,0-1 0,1 1 0,-1 0 0,0 0 0,0 0 0,0 0 0,1-1 0,-1 1 0,0 0 0,0 0 0,0 0 0,1 0 0,-1 0 0,0 0 0,0 0 0,1 0 0,-1 0 0,0 0 0,0-1 0,1 1 0,-1 0 0,0 0 0,0 0 0,1 1 0,-1-1 0,0 0 0,20-3 0,572-20 0,-742 13 0,-248 26 0,23 0 0,270-16 0,193 9 0,108-13 0,-20-2 0,-666 6 0,268 1 0,445-12 0,-69 1 0,-76 8 0,-16 1 0,91-13 0,-128 6 0,-39 3 0,-42 2 0,-442-22 0,491 24 0,-1 1 0,0-1 0,1 0 0,-1-1 0,1 0 0,-14-5 0,21 7 0,0 0 0,-1 0 0,1 0 0,0 0 0,0 0 0,0 0 0,0 0 0,0 0 0,0 0 0,-1 0 0,1 0 0,0-1 0,0 1 0,0 0 0,0 0 0,0 0 0,0 0 0,0 0 0,-1 0 0,1 0 0,0 0 0,0 0 0,0 0 0,0-1 0,0 1 0,0 0 0,0 0 0,0 0 0,0 0 0,0 0 0,0 0 0,0-1 0,0 1 0,0 0 0,0 0 0,0 0 0,0 0 0,0 0 0,0 0 0,0-1 0,0 1 0,0 0 0,0 0 0,0 0 0,0 0 0,0 0 0,0 0 0,0-1 0,0 1 0,0 0 0,0 0 0,0 0 0,0 0 0,0 0 0,1 0 0,-1 0 0,0 0 0,0 0 0,0-1 0,0 1 0,0 0 0,0 0 0,1 0 0,12-4 0,19 1 0,25 5 0,0 3 0,0 2 0,84 22 0,-19-4 0,214 39 0,-333-63 0,-1-1 0,1 1 0,-1 0 0,1 0 0,-1 0 0,1 0 0,-1 0 0,0 0 0,1 1 0,-1-1 0,0 1 0,3 3 0,-5-5 0,1 0 0,-1 1 0,0-1 0,0 0 0,0 1 0,1-1 0,-1 0 0,0 1 0,0-1 0,0 1 0,0-1 0,0 0 0,0 1 0,0-1 0,0 1 0,0-1 0,0 1 0,0-1 0,0 0 0,0 1 0,0-1 0,0 1 0,0-1 0,0 0 0,0 1 0,-1-1 0,1 1 0,0 0 0,-2 0 0,1 0 0,0 0 0,0 0 0,-1 0 0,1 0 0,-1 0 0,1 0 0,-1-1 0,1 1 0,-1 0 0,-2 0 0,-23 6 0,1-2 0,-48 5 0,12-3 0,-56 8 0,-168 1 0,265-13 0,33 4 0,36 4 0,415 18 0,-379-27 0,75-1 0,-774-2 0,322 2 0,269-4 0,21 0 0,16 0 0,143-14 0,199-12 0,-303 29 0,277-10 0,-385 2 0,-490 5 0,317 5 0,451-16 0,-124 5 0,293-12 0,-373 17 0,-18 4 0,0 0 0,0 0 0,0 0 0,0 0 0,0 0 0,0 0 0,0-1 0,0 1 0,1 0 0,-1 0 0,0 0 0,0 0 0,0 0 0,0-1 0,0 1 0,0 0 0,0 0 0,0 0 0,0 0 0,0-1 0,0 1 0,0 0 0,0 0 0,0 0 0,0 0 0,0 0 0,0-1 0,-1 1 0,1 0 0,0 0 0,0 0 0,0 0 0,0 0 0,0-1 0,0 1 0,0 0 0,0 0 0,-1 0 0,1 0 0,0 0 0,0 0 0,0 0 0,0 0 0,0 0 0,0-1 0,-1 1 0,-28-11 0,-39 4 0,-134 4 0,168 4 0,364-16 116,-127 3-1597,-122 9-5345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2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12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2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2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2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Google Shape;16;p12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2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12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2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2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2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22;p12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2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Google Shape;24;p12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1480711"/>
            <a:ext cx="9144000" cy="4968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CO-OP Project at Industry (Module-2) (22CS421) </a:t>
            </a:r>
          </a:p>
          <a:p>
            <a:pPr lvl="0" algn="ctr"/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algn="ctr">
              <a:spcBef>
                <a:spcPts val="400"/>
              </a:spcBef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Rise of UPI Fraud in India: Vulnerability Analysis and Prevention Framework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Aniket Garg :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2210991264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Ajay Kumar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17988" y="147484"/>
            <a:ext cx="331853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F1AB40-2D09-2B0B-85B3-EB89D7D41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80" y="573001"/>
            <a:ext cx="8190063" cy="360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UPI has changed the way people make digital payments in India.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transfer money instantly using mobile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People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UPI for shopping, bill payments, ticket booking, and online transfers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Due to its fast and simple process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UPI usage is increasing rapidly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Along with its growth, online fraud and cyber scams are also increasing.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Fraudsters target users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fake links, QR codes, and scam calls.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CB6BE0-53A9-8266-9523-051ABBF1AC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342" y="4063374"/>
            <a:ext cx="4650658" cy="29730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/>
        </p:nvSpPr>
        <p:spPr>
          <a:xfrm>
            <a:off x="206477" y="137652"/>
            <a:ext cx="610583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and Evolution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4D0AA9-A6F7-1931-7F29-3E5A01B5A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962" y="450123"/>
            <a:ext cx="7702750" cy="530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Earlier,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people mainly used cash, debit cards, and net banking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payments.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payments were slower and required more banking procedures.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UPI made transactions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easier, faster, and available 24/7.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QR-code payments and mobile apps increased the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popularity of UPI.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Today,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millions of transactions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happen daily through UPI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platforms.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technological growth, fraud techniques have also become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advanced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218416-0828-2301-C5D6-969630BDC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712" y="2877583"/>
            <a:ext cx="3069288" cy="34658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/>
        </p:nvSpPr>
        <p:spPr>
          <a:xfrm>
            <a:off x="226142" y="137651"/>
            <a:ext cx="404105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658F8B-4C15-F045-7862-0B68CAFEA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528" y="884644"/>
            <a:ext cx="7721986" cy="440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UPI fraud cases are growing rapidly across India.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users are unaware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scams and fraud techniques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Fraudsters misuse fake customer-care calls, phishing links, and QR-code scams.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money transfer makes it difficult to recover lost money.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 verification and lack of awareness increase security risks.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better fraud prevention and user education.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/>
        </p:nvSpPr>
        <p:spPr>
          <a:xfrm>
            <a:off x="186812" y="157316"/>
            <a:ext cx="65254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200" dirty="0">
                <a:solidFill>
                  <a:schemeClr val="bg1"/>
                </a:solidFill>
              </a:rPr>
              <a:t>Objectives of the study</a:t>
            </a:r>
            <a:endParaRPr lang="en-IN" sz="320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184E73-309D-A70B-A11A-5236B6357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20" y="741282"/>
            <a:ext cx="6785996" cy="440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rapid increase of UPI fraud in India.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major vulnerabilities in digital payment systems.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different types of UPI frauds and scams.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security and privacy risks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faced by users.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study prevention methods introduced by RBI and NPCI.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suggest ways to improve digital payment security.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60B69-E82C-7A83-9576-F6072B7F8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446" y="4434347"/>
            <a:ext cx="2539595" cy="20795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E4FE-7198-06FF-6A1F-2BC45581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Literature Review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DC5934-3AE1-FAED-5C1C-7D169F543B3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08113" y="457020"/>
            <a:ext cx="7721986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shows that digital payment fraud has increased with UPI growth.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frauds happen because users trust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fake calls and messages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Studies highlight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phishing, QR scams, and impersonation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common threats.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scams and deepfake technology are making fraud more dangerous.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Experts recommend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stronger authentication and better awareness programs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also emphasize the need for secure digital payment systems. </a:t>
            </a:r>
          </a:p>
        </p:txBody>
      </p:sp>
    </p:spTree>
    <p:extLst>
      <p:ext uri="{BB962C8B-B14F-4D97-AF65-F5344CB8AC3E}">
        <p14:creationId xmlns:p14="http://schemas.microsoft.com/office/powerpoint/2010/main" val="992592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271217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ts val="3200"/>
            </a:pPr>
            <a:r>
              <a:rPr lang="en-IN" sz="3200" dirty="0">
                <a:solidFill>
                  <a:schemeClr val="bg1"/>
                </a:solidFill>
              </a:rPr>
              <a:t>Ethical Implications</a:t>
            </a:r>
            <a:endParaRPr lang="en-IN" sz="320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6776B49-5DFA-416B-2C4E-F21DE37B9E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71217" y="634958"/>
            <a:ext cx="7183377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UPI fraud causes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loss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users and businesses.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Victims may lose trust in online payment systems.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Cybercrime and online scam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activities continue to increase.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Banks and financial institutions receive more fraud complaints.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 cases create stress and fear among digital payment users.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investment is needed in cybersecurity and fraud prevention systems.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7F6D0A-4A70-C424-CE81-A827BC0C5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781" y="1714500"/>
            <a:ext cx="2733368" cy="2922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/>
        </p:nvSpPr>
        <p:spPr>
          <a:xfrm>
            <a:off x="137651" y="167148"/>
            <a:ext cx="6646607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000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UPI Frauds</a:t>
            </a:r>
            <a:endParaRPr sz="300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260554" y="973738"/>
            <a:ext cx="8622891" cy="529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Fraud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Fraudsters send fake SMS, emails, or links to steal banking details.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may unknowingly share OTPs and UPI PINs. </a:t>
            </a:r>
          </a:p>
          <a:p>
            <a:pPr>
              <a:lnSpc>
                <a:spcPct val="2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QR-Code Scam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QR codes are used to trick users into making payments.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users think scanning a QR code will help them receive money. </a:t>
            </a:r>
          </a:p>
          <a:p>
            <a:pPr>
              <a:lnSpc>
                <a:spcPct val="2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Request Fraud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send fake “collect money” requests for approval.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accidentally approve the request and lose money. </a:t>
            </a:r>
          </a:p>
          <a:p>
            <a:pPr lvl="0"/>
            <a:endParaRPr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D85D79-8720-23B0-2652-7AB5AB982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205" y="4355689"/>
            <a:ext cx="2419965" cy="24199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CB2518-053C-6AC9-02D6-44D70B790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384" y="1689864"/>
            <a:ext cx="8552688" cy="4186680"/>
          </a:xfrm>
        </p:spPr>
        <p:txBody>
          <a:bodyPr/>
          <a:lstStyle/>
          <a:p>
            <a:pPr marL="5080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SIM-Swap Fraud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Fraudsters duplicate the victim’s SIM card.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gain access to OTPs and banking services. 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Customer-Care Scam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Scammers pretend to be bank officials or support agents.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manipulate users into sharing confidential information. </a:t>
            </a:r>
          </a:p>
          <a:p>
            <a:pPr marL="5080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Screen-Sharing Fraud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Victims are asked to install remote-access applications.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Fraudsters then control the device and perform transactions.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26162-0282-8232-67CF-A901A235E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273" y="3783204"/>
            <a:ext cx="3538998" cy="353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08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383D-6335-9A68-B95B-E08679843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7" y="157316"/>
            <a:ext cx="6676103" cy="599768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risks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69F803-584E-3654-A98D-47C13E2AA2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7104" y="457200"/>
            <a:ext cx="6760184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UPI systems store important financial and personal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breaches can expose sensitive banking details.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often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 OTPs and PINs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unknowingly during scams.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Fake apps and malicious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links can steal user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payment systems reduce the time available for fraud recovery.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digital awareness increases privacy and security risks.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DDBA54-08A6-AC3A-CC58-CC7A56396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250" y="1387577"/>
            <a:ext cx="2476500" cy="2667000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88F2A3E-1919-FECA-A250-8A7E34C56B7F}"/>
                  </a:ext>
                </a:extLst>
              </p14:cNvPr>
              <p14:cNvContentPartPr/>
              <p14:nvPr/>
            </p14:nvContentPartPr>
            <p14:xfrm>
              <a:off x="7306200" y="3903180"/>
              <a:ext cx="1543320" cy="114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88F2A3E-1919-FECA-A250-8A7E34C56B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88200" y="3885540"/>
                <a:ext cx="1578960" cy="1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6947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6EC4-6754-5C72-468F-D99D3FD44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0"/>
            <a:ext cx="5486040" cy="91404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Methodology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6D1052-F801-DCC7-F1D9-A9349E4663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45440" y="457020"/>
            <a:ext cx="732444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study is based on qualitative and analytical research.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was collected from RBI, NPCI, CERT-In reports, and research papers.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 studies and cybersecurity reports were also analyzed.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fraud patterns and vulnerabilities were studied carefully.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study focused on fraud causes, impacts, and prevention methods. </a:t>
            </a:r>
          </a:p>
        </p:txBody>
      </p:sp>
    </p:spTree>
    <p:extLst>
      <p:ext uri="{BB962C8B-B14F-4D97-AF65-F5344CB8AC3E}">
        <p14:creationId xmlns:p14="http://schemas.microsoft.com/office/powerpoint/2010/main" val="2330783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BA4D3-0D92-434E-8A54-8A3469392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0"/>
            <a:ext cx="6959600" cy="91404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73C4D77-F813-500C-E5B2-E9BDD98E76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9179" y="457020"/>
            <a:ext cx="6625532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UPI transactions have increased rapidly in recent years.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 cases are also increasing with digital payment growth.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frauds are based on social engineering and user manipulation.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are commonly targeted through phishing and QR-code scams.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frauds and deepfake scams are becoming more common.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security systems and user awareness can reduce fraud risks. </a:t>
            </a:r>
          </a:p>
        </p:txBody>
      </p:sp>
    </p:spTree>
    <p:extLst>
      <p:ext uri="{BB962C8B-B14F-4D97-AF65-F5344CB8AC3E}">
        <p14:creationId xmlns:p14="http://schemas.microsoft.com/office/powerpoint/2010/main" val="661868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73C4-0E24-823D-BAF4-65E3F730E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0"/>
            <a:ext cx="6817360" cy="91404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ACC3160-2F91-9E79-12F6-E815268F51F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20040" y="335100"/>
            <a:ext cx="7555273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UPI has made digital payments fast, simple, and convenient.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increasing usage has also increased cyber fraud risks.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frauds happen because of lack of awareness and weak security practices.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real-time monitoring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important for safety.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Users, banks, and regulators must work together to prevent fraud.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 digital practices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help create a secure payment ecosystem.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DF3A1E-4AAC-FCD7-A16C-D39E7607C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0" y="5177478"/>
            <a:ext cx="3182619" cy="153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38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876</Words>
  <Application>Microsoft Office PowerPoint</Application>
  <PresentationFormat>On-screen Show (4:3)</PresentationFormat>
  <Paragraphs>115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Literature Review</vt:lpstr>
      <vt:lpstr>Ethical Implications</vt:lpstr>
      <vt:lpstr>PowerPoint Presentation</vt:lpstr>
      <vt:lpstr>PowerPoint Presentation</vt:lpstr>
      <vt:lpstr>Security and privacy risks</vt:lpstr>
      <vt:lpstr>Methodology</vt:lpstr>
      <vt:lpstr>Results and analysis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Ashita Chhabra</cp:lastModifiedBy>
  <cp:revision>6</cp:revision>
  <dcterms:created xsi:type="dcterms:W3CDTF">2010-04-09T07:36:15Z</dcterms:created>
  <dcterms:modified xsi:type="dcterms:W3CDTF">2026-05-13T18:32:37Z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